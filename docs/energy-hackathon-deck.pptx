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Inter"/>
              </a:rPr>
              <a:t>ENERGY HACKATHON · BEDROCK + TWELVELABS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Inter"/>
              </a:rPr>
              <a:t>Multimodal video search
for grid inspection footage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Inter"/>
              </a:rPr>
              <a:t>Clip embeddings find the moment.
Frame embeddings show you exactly where it 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49240"/>
            <a:ext cx="3849624" cy="4572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5000" rIns="75000" tIns="40000" bIns="40000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Bedrock · Marengo + Pegasus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5736" y="5349240"/>
            <a:ext cx="3255264" cy="4572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5000" rIns="75000" tIns="40000" bIns="40000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YOLO-seg · ultralytics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5349240"/>
            <a:ext cx="4206240" cy="457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5000" rIns="75000" tIns="40000" bIns="40000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RDS Postgres + pgvector (HNSW)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43600"/>
            <a:ext cx="3968496" cy="4572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5000" rIns="75000" tIns="40000" bIns="40000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ECS Fargate · FastAPI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4608" y="5943600"/>
            <a:ext cx="3374136" cy="4572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5000" rIns="75000" tIns="40000" bIns="40000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EventBridge · 4 Lambdas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03336" y="5943600"/>
            <a:ext cx="5632704" cy="457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5000" rIns="75000" tIns="40000" bIns="40000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3 Fargate workers · frame · pegasus · yolo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Hours of inspection footage. One question. Twelve seconds to find the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Filename search is useless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4B5563"/>
                </a:solidFill>
                <a:latin typeface="Inter"/>
              </a:rPr>
              <a:t>Drone passes are named pipeline_001.mp4 — the interesting frame is buried 4 minutes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Manual scrubbing doesn't scale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4B5563"/>
                </a:solidFill>
                <a:latin typeface="Inter"/>
              </a:rPr>
              <a:t>Inspectors review hours of identical-looking transmission line and pipeline footage every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Single-frame search misses motion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4B5563"/>
                </a:solidFill>
                <a:latin typeface="Inter"/>
              </a:rPr>
              <a:t>A still snapshot loses arc flashes, smoke plumes, and the audio cues from a faulty transformer.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We want a search box that takes a sentence, an image, or both — and jumps straight to the right second of the right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ARCHITECTURE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Synchronous read path: search and upload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508760"/>
            <a:ext cx="10332720" cy="4526280"/>
          </a:xfrm>
          <a:prstGeom prst="rect">
            <a:avLst/>
          </a:prstGeom>
          <a:noFill/>
          <a:ln w="15875">
            <a:solidFill>
              <a:srgbClr val="232F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508760"/>
            <a:ext cx="928116" cy="219456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928116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AWS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783080"/>
            <a:ext cx="10058400" cy="41605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1783080"/>
            <a:ext cx="928116" cy="219456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928116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us-east-1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103120"/>
            <a:ext cx="2697480" cy="3749039"/>
          </a:xfrm>
          <a:prstGeom prst="rect">
            <a:avLst/>
          </a:prstGeom>
          <a:noFill/>
          <a:ln w="15875">
            <a:solidFill>
              <a:srgbClr val="8C4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83080" y="2103120"/>
            <a:ext cx="1472184" cy="219456"/>
          </a:xfrm>
          <a:prstGeom prst="rect">
            <a:avLst/>
          </a:prstGeom>
          <a:solidFill>
            <a:srgbClr val="8C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103120"/>
            <a:ext cx="1472184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VPC 10.42.0.0/16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423160"/>
            <a:ext cx="2514600" cy="3337560"/>
          </a:xfrm>
          <a:prstGeom prst="rect">
            <a:avLst/>
          </a:prstGeom>
          <a:noFill/>
          <a:ln w="15875">
            <a:solidFill>
              <a:srgbClr val="7AA1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19" y="2423160"/>
            <a:ext cx="1627632" cy="219456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423160"/>
            <a:ext cx="1627632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Public Subnet AZ-a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81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Inter"/>
              </a:rPr>
              <a:t>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37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shared-token cookie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325880" y="2889504"/>
            <a:ext cx="1522475" cy="356616"/>
          </a:xfrm>
          <a:prstGeom prst="line">
            <a:avLst/>
          </a:prstGeom>
          <a:ln w="2540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9837" y="2848356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HTTPS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31819" y="3172968"/>
            <a:ext cx="0" cy="530352"/>
          </a:xfrm>
          <a:prstGeom prst="line">
            <a:avLst/>
          </a:prstGeom>
          <a:ln w="2540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31819" y="4690872"/>
            <a:ext cx="0" cy="109728"/>
          </a:xfrm>
          <a:prstGeom prst="line">
            <a:avLst/>
          </a:prstGeom>
          <a:ln w="2540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91739" y="4700016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cosine ANN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15283" y="2889504"/>
            <a:ext cx="1879093" cy="1097280"/>
          </a:xfrm>
          <a:prstGeom prst="line">
            <a:avLst/>
          </a:prstGeom>
          <a:ln w="1778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57549" y="3145536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presigned URLs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415283" y="2889504"/>
            <a:ext cx="4119373" cy="1097280"/>
          </a:xfrm>
          <a:prstGeom prst="line">
            <a:avLst/>
          </a:prstGeom>
          <a:ln w="1778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77689" y="3602736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sync InvokeModel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15283" y="4224528"/>
            <a:ext cx="1879093" cy="676656"/>
          </a:xfrm>
          <a:prstGeom prst="line">
            <a:avLst/>
          </a:prstGeom>
          <a:ln w="12700">
            <a:solidFill>
              <a:srgbClr val="4B5563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57549" y="4727448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GetSecretValue</a:t>
            </a:r>
          </a:p>
        </p:txBody>
      </p:sp>
      <p:pic>
        <p:nvPicPr>
          <p:cNvPr id="31" name="Picture 30" descr="Arch_Elastic-Load-Balancing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5" y="2606040"/>
            <a:ext cx="566928" cy="566928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2217419" y="32095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Application LB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7419" y="33924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HTTP :80 · /health · /api/*</a:t>
            </a:r>
          </a:p>
        </p:txBody>
      </p:sp>
      <p:pic>
        <p:nvPicPr>
          <p:cNvPr id="34" name="Picture 33" descr="Arch_Amazon-Elastic-Container-Service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5" y="3703320"/>
            <a:ext cx="566928" cy="566928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2217419" y="43068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ECS · Fargate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7419" y="44897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FastAPI portal · 512 / 1024</a:t>
            </a:r>
          </a:p>
        </p:txBody>
      </p:sp>
      <p:pic>
        <p:nvPicPr>
          <p:cNvPr id="37" name="Picture 36" descr="Arch_Amazon-RDS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355" y="4800600"/>
            <a:ext cx="566928" cy="566928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2217419" y="5404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RDS · pgvector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7419" y="558698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db.t4g.large · HNSW-tuned</a:t>
            </a:r>
          </a:p>
        </p:txBody>
      </p:sp>
      <p:pic>
        <p:nvPicPr>
          <p:cNvPr id="40" name="Picture 39" descr="Arch_Amazon-Simple-Storage-Service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2606040"/>
            <a:ext cx="566928" cy="566928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4663440" y="32095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S3 bucket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33924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raw-videos/ · embeddings/</a:t>
            </a:r>
          </a:p>
        </p:txBody>
      </p:sp>
      <p:pic>
        <p:nvPicPr>
          <p:cNvPr id="43" name="Picture 42" descr="Arch_Amazon-Bedrock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2606040"/>
            <a:ext cx="566928" cy="566928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6903720" y="32095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Bedrock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3924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Marengo Embed 3.0</a:t>
            </a:r>
          </a:p>
        </p:txBody>
      </p:sp>
      <p:pic>
        <p:nvPicPr>
          <p:cNvPr id="46" name="Picture 45" descr="Arch_Amazon-Elastic-Container-Registry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376" y="2606040"/>
            <a:ext cx="566928" cy="566928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9235440" y="32095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ECR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3924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portal image</a:t>
            </a:r>
          </a:p>
        </p:txBody>
      </p:sp>
      <p:pic>
        <p:nvPicPr>
          <p:cNvPr id="49" name="Picture 48" descr="Arch_AWS-Secrets-Manager_64@5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4376" y="4617720"/>
            <a:ext cx="566928" cy="566928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4663440" y="5221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Secrets Mgr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404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portal token · DB URL</a:t>
            </a:r>
          </a:p>
        </p:txBody>
      </p:sp>
      <p:pic>
        <p:nvPicPr>
          <p:cNvPr id="52" name="Picture 51" descr="Arch_Amazon-CloudWatch_64@5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4617720"/>
            <a:ext cx="566928" cy="566928"/>
          </a:xfrm>
          <a:prstGeom prst="rect">
            <a:avLst/>
          </a:prstGeom>
          <a:effectLst/>
        </p:spPr>
      </p:pic>
      <p:sp>
        <p:nvSpPr>
          <p:cNvPr id="53" name="TextBox 52"/>
          <p:cNvSpPr txBox="1"/>
          <p:nvPr/>
        </p:nvSpPr>
        <p:spPr>
          <a:xfrm>
            <a:off x="6903720" y="5221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CloudWatch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404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/ecs/&lt;project&gt; · 7d</a:t>
            </a:r>
          </a:p>
        </p:txBody>
      </p:sp>
      <p:pic>
        <p:nvPicPr>
          <p:cNvPr id="55" name="Picture 54" descr="Arch_AWS-Identity-and-Access-Management_64@5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6376" y="4617720"/>
            <a:ext cx="566928" cy="566928"/>
          </a:xfrm>
          <a:prstGeom prst="rect">
            <a:avLst/>
          </a:prstGeom>
          <a:effectLst/>
        </p:spPr>
      </p:pic>
      <p:sp>
        <p:nvSpPr>
          <p:cNvPr id="56" name="TextBox 55"/>
          <p:cNvSpPr txBox="1"/>
          <p:nvPr/>
        </p:nvSpPr>
        <p:spPr>
          <a:xfrm>
            <a:off x="9235440" y="5221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IAM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404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task + execution roles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Inter"/>
              </a:rPr>
              <a:t>Operator browser also hits S3 directly with presigned PUT/GET URLs minted by ECS. The async ingest pipeline (S3 EventBridge → 3 Lambdas + Fargate frame worker) populates the embeddings table this slide queries — see next slide.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ARCHITECTURE · 2 OF 3 · MARENGO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Async embed pipeline: drop a video, get clip + frame embeddings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92840" cy="4526280"/>
          </a:xfrm>
          <a:prstGeom prst="rect">
            <a:avLst/>
          </a:prstGeom>
          <a:noFill/>
          <a:ln w="15875">
            <a:solidFill>
              <a:srgbClr val="232F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928116" cy="219456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928116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AWS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927080" cy="41605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928116" cy="219456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928116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us-east-1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3703320"/>
            <a:ext cx="9006840" cy="2194560"/>
          </a:xfrm>
          <a:prstGeom prst="rect">
            <a:avLst/>
          </a:prstGeom>
          <a:noFill/>
          <a:ln w="15875">
            <a:solidFill>
              <a:srgbClr val="8C4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3703320"/>
            <a:ext cx="868680" cy="219456"/>
          </a:xfrm>
          <a:prstGeom prst="rect">
            <a:avLst/>
          </a:prstGeom>
          <a:solidFill>
            <a:srgbClr val="8C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3703320"/>
            <a:ext cx="868680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VPC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46504" y="2615184"/>
            <a:ext cx="987552" cy="0"/>
          </a:xfrm>
          <a:prstGeom prst="line">
            <a:avLst/>
          </a:prstGeom>
          <a:ln w="2159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2395728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ObjectCreated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00984" y="2615184"/>
            <a:ext cx="987552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97480" y="2395728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video_uploaded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2898648"/>
            <a:ext cx="137160" cy="1261872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00984" y="2898648"/>
            <a:ext cx="1682496" cy="1261872"/>
          </a:xfrm>
          <a:prstGeom prst="line">
            <a:avLst/>
          </a:prstGeom>
          <a:ln w="19050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9272" y="3712464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clip_output_ready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898648"/>
            <a:ext cx="2926079" cy="1261872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37759" y="3438144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ecs.run_task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438144" y="2514600"/>
            <a:ext cx="6931152" cy="1929384"/>
          </a:xfrm>
          <a:prstGeom prst="line">
            <a:avLst/>
          </a:prstGeom>
          <a:ln w="1778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06440" y="3095244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StartAsyncInvoke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781543" y="2807208"/>
            <a:ext cx="2587753" cy="1353312"/>
          </a:xfrm>
          <a:prstGeom prst="line">
            <a:avLst/>
          </a:prstGeom>
          <a:ln w="1524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78139" y="3191256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8× InvokeModel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1554480" y="2898648"/>
            <a:ext cx="5760719" cy="1261872"/>
          </a:xfrm>
          <a:prstGeom prst="line">
            <a:avLst/>
          </a:prstGeom>
          <a:ln w="12700">
            <a:solidFill>
              <a:srgbClr val="4B5563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66944" y="4398264"/>
            <a:ext cx="5102352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38160" y="4215384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INSERT clip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81543" y="4489704"/>
            <a:ext cx="2587753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78139" y="4654296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INSERT frame</a:t>
            </a:r>
          </a:p>
        </p:txBody>
      </p:sp>
      <p:pic>
        <p:nvPicPr>
          <p:cNvPr id="32" name="Picture 31" descr="Arch_Amazon-Simple-Storage-Servic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331720"/>
            <a:ext cx="566928" cy="56692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548640" y="2935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18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raw-videos/ · output.json</a:t>
            </a:r>
          </a:p>
        </p:txBody>
      </p:sp>
      <p:pic>
        <p:nvPicPr>
          <p:cNvPr id="35" name="Picture 34" descr="Arch_Amazon-EventBridge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56" y="2331720"/>
            <a:ext cx="566928" cy="566928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2103120" y="2935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EventBridge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118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2 rules · 4 fan-outs total</a:t>
            </a:r>
          </a:p>
        </p:txBody>
      </p:sp>
      <p:pic>
        <p:nvPicPr>
          <p:cNvPr id="38" name="Picture 37" descr="Arch_AWS-Lambda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331720"/>
            <a:ext cx="566928" cy="566928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3657600" y="2935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start_frame_task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118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λ · no VPC · dispatcher</a:t>
            </a:r>
          </a:p>
        </p:txBody>
      </p:sp>
      <p:pic>
        <p:nvPicPr>
          <p:cNvPr id="41" name="Picture 40" descr="Arch_Amazon-Bedrock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2331720"/>
            <a:ext cx="566928" cy="566928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9738360" y="29352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Bedrock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31181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Marengo · async + sync</a:t>
            </a:r>
          </a:p>
        </p:txBody>
      </p:sp>
      <p:pic>
        <p:nvPicPr>
          <p:cNvPr id="44" name="Picture 43" descr="Arch_AWS-Lambda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216" y="4160520"/>
            <a:ext cx="566928" cy="566928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2240280" y="47640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start_clip_embed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49469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λ in VPC · pg8000</a:t>
            </a:r>
          </a:p>
        </p:txBody>
      </p:sp>
      <p:pic>
        <p:nvPicPr>
          <p:cNvPr id="47" name="Picture 46" descr="Arch_AWS-Lambda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160520"/>
            <a:ext cx="566928" cy="566928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4069080" y="47640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finalize_clip_embed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49469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λ in VPC · L2-norm + INSERT</a:t>
            </a:r>
          </a:p>
        </p:txBody>
      </p:sp>
      <p:pic>
        <p:nvPicPr>
          <p:cNvPr id="50" name="Picture 49" descr="Arch_AWS-Fargate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5" y="4160520"/>
            <a:ext cx="566928" cy="566928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6583679" y="47640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frame-embed-worker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49469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Fargate · ffmpeg + 8× Bedrock</a:t>
            </a:r>
          </a:p>
        </p:txBody>
      </p:sp>
      <p:pic>
        <p:nvPicPr>
          <p:cNvPr id="53" name="Picture 52" descr="Arch_Amazon-RDS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296" y="4160520"/>
            <a:ext cx="566928" cy="566928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9738360" y="47640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RDS · pgvector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9469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kind='clip' + kind='frame'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Inter"/>
              </a:rPr>
              <a:t>Both Marengo branches fan out from one bucket-level S3 → EventBridge notification. A third fan-out — start_yolo_task → yolo-detect-worker — runs in parallel; see the next slide.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ARCHITECTURE · 3 OF 3 · PEGASUS +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Async enrichments: per-clip text + per-frame instance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92840" cy="4526280"/>
          </a:xfrm>
          <a:prstGeom prst="rect">
            <a:avLst/>
          </a:prstGeom>
          <a:noFill/>
          <a:ln w="15875">
            <a:solidFill>
              <a:srgbClr val="232F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928116" cy="219456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928116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AWS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927080" cy="41605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928116" cy="219456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928116" cy="219456"/>
          </a:xfrm>
          <a:prstGeom prst="rect">
            <a:avLst/>
          </a:prstGeom>
          <a:noFill/>
        </p:spPr>
        <p:txBody>
          <a:bodyPr wrap="none" lIns="60000" rIns="60000" tIns="10000" bIns="1000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Inter"/>
              </a:rPr>
              <a:t>us-east-1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11580" y="3954780"/>
            <a:ext cx="640080" cy="0"/>
          </a:xfrm>
          <a:prstGeom prst="line">
            <a:avLst/>
          </a:prstGeom>
          <a:ln w="2032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4340" y="3735324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ObjectCreated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354580" y="2583180"/>
            <a:ext cx="914400" cy="1325880"/>
          </a:xfrm>
          <a:prstGeom prst="line">
            <a:avLst/>
          </a:prstGeom>
          <a:ln w="19050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23060" y="3410712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clip_output_ready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54580" y="4000500"/>
            <a:ext cx="914400" cy="1234440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97380" y="4800600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video_uploaded · 3rd fan-out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71900" y="2583180"/>
            <a:ext cx="1143000" cy="0"/>
          </a:xfrm>
          <a:prstGeom prst="line">
            <a:avLst/>
          </a:prstGeom>
          <a:ln w="1778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46120" y="2382012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ecs.run_task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17820" y="2583180"/>
            <a:ext cx="1234440" cy="0"/>
          </a:xfrm>
          <a:prstGeom prst="line">
            <a:avLst/>
          </a:prstGeom>
          <a:ln w="1778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37760" y="2382012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Pegasus stream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17820" y="2834640"/>
            <a:ext cx="4754880" cy="1028700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80860" y="3440430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INSERT clip_descriptions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71900" y="5234940"/>
            <a:ext cx="1143000" cy="0"/>
          </a:xfrm>
          <a:prstGeom prst="line">
            <a:avLst/>
          </a:prstGeom>
          <a:ln w="1778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46120" y="5033772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ecs.run_task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051560" y="4206240"/>
            <a:ext cx="3931920" cy="777240"/>
          </a:xfrm>
          <a:prstGeom prst="line">
            <a:avLst/>
          </a:prstGeom>
          <a:ln w="12700">
            <a:solidFill>
              <a:srgbClr val="4B5563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17820" y="4046220"/>
            <a:ext cx="4754880" cy="1188720"/>
          </a:xfrm>
          <a:prstGeom prst="line">
            <a:avLst/>
          </a:prstGeom>
          <a:ln w="19050">
            <a:solidFill>
              <a:srgbClr val="0F76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63740" y="4439412"/>
            <a:ext cx="2194560" cy="27432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Inter"/>
              </a:rPr>
              <a:t>INSERT frame_detections</a:t>
            </a:r>
          </a:p>
        </p:txBody>
      </p:sp>
      <p:pic>
        <p:nvPicPr>
          <p:cNvPr id="28" name="Picture 27" descr="Arch_Amazon-Simple-Storage-Servic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703320"/>
            <a:ext cx="502920" cy="50292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45720" y="42428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" y="44256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output.json · derived clips · YOLO weights</a:t>
            </a:r>
          </a:p>
        </p:txBody>
      </p:sp>
      <p:pic>
        <p:nvPicPr>
          <p:cNvPr id="31" name="Picture 30" descr="Arch_Amazon-EventBridge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3703320"/>
            <a:ext cx="502920" cy="50292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1188720" y="42428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EventBridge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4256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clip_output_ready · video_uploaded</a:t>
            </a:r>
          </a:p>
        </p:txBody>
      </p:sp>
      <p:pic>
        <p:nvPicPr>
          <p:cNvPr id="34" name="Picture 33" descr="Arch_AWS-Lambda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2331720"/>
            <a:ext cx="502920" cy="50292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2606040" y="28712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finalize_clip_embed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0540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λ in VPC · INSERT clip + spawn</a:t>
            </a:r>
          </a:p>
        </p:txBody>
      </p:sp>
      <p:pic>
        <p:nvPicPr>
          <p:cNvPr id="37" name="Picture 36" descr="Arch_AWS-Fargate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331720"/>
            <a:ext cx="502920" cy="502920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4251960" y="28712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clip-pegasus-worker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0540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Fargate · ffmpeg cuts → derived/clips/</a:t>
            </a:r>
          </a:p>
        </p:txBody>
      </p:sp>
      <p:pic>
        <p:nvPicPr>
          <p:cNvPr id="40" name="Picture 39" descr="Arch_Amazon-Bedrock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2331720"/>
            <a:ext cx="502920" cy="502920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5989320" y="28712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Bedrock · Pegasus 1.2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30540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invoke_model_with_response_stream</a:t>
            </a:r>
          </a:p>
        </p:txBody>
      </p:sp>
      <p:pic>
        <p:nvPicPr>
          <p:cNvPr id="43" name="Picture 42" descr="Arch_AWS-Lambda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4983480"/>
            <a:ext cx="502920" cy="502920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2606040" y="552297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start_yolo_task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7058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λ no VPC · ecs.run_task dispatcher</a:t>
            </a:r>
          </a:p>
        </p:txBody>
      </p:sp>
      <p:pic>
        <p:nvPicPr>
          <p:cNvPr id="46" name="Picture 45" descr="Arch_AWS-Fargate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4983480"/>
            <a:ext cx="502920" cy="502920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4251960" y="552297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yolo-detect-worker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57058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Fargate · ultralytics CPU torch · polls frames</a:t>
            </a:r>
          </a:p>
        </p:txBody>
      </p:sp>
      <p:pic>
        <p:nvPicPr>
          <p:cNvPr id="49" name="Picture 48" descr="Arch_Amazon-RDS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0" y="3703320"/>
            <a:ext cx="502920" cy="50292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9509760" y="42428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RDS · pgvector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44256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Inter"/>
              </a:rPr>
              <a:t>clip_descriptions · frame_detections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Inter"/>
              </a:rPr>
              <a:t>Pegasus runs once Marengo's clip rows are written; the worker cuts each clip, streams a natural-language description, and writes clip_descriptions. YOLO runs in parallel with the frame-embed worker and writes frame_detections that the UI paints as SVG polygons over thumbnails.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THE MODEL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Two granularities, one vector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Inter"/>
              </a:rPr>
              <a:t>CLIP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~6-second segments of the source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bedrock:StartAsyncInvoke → output.json on 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1 row per (s3_key, segment_index, embeddingOption)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embeddingOption ∈ { visual, audio, transcription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captures motion, audio, and speech in one 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cheap: 1 async job per video, runs out of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JetBrains Mono"/>
              </a:rPr>
              <a:t>kind = 'clip'   ·   timestamp_sec = (start_sec + end_sec) /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FEF7ED"/>
          </a:solidFill>
          <a:ln w="19050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  <a:latin typeface="Inter"/>
              </a:rPr>
              <a:t>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1-fps still frames extracted with ffmpeg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bedrock:InvokeModel sync image API per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1 row per (s3_key, frame_index)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thumb_s3_key points at a 720px JPEG on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frame-precise — one row per second of footage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expensive but pinpoint: the thumbnail is exact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JetBrains Mono"/>
              </a:rPr>
              <a:t>kind = 'frame'   ·   thumb_s3_key NOT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4D48"/>
                </a:solidFill>
                <a:latin typeface="Inter"/>
              </a:rPr>
              <a:t>Both kinds are 512-d L2-normalized Marengo vectors and share the same HNSW cosine index.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JetBrains Mono"/>
              </a:rPr>
              <a:t>ORDER BY embedding &lt;=&gt; :query — clips and frames compete on equal footing. The result set is a mix of the two.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SEARCH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The frame-snap trick: clips for recall, frames for the seek bar</a:t>
            </a:r>
          </a:p>
        </p:txBody>
      </p:sp>
      <p:pic>
        <p:nvPicPr>
          <p:cNvPr id="5" name="Picture 4" descr="frame_sn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627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Per clip in the candidate pool, snap timestamp_sec to the highest-scoring frame whose timestamp falls in [start_sec, end_sec].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</a:rPr>
              <a:t>Use that frame's S3 thumbnail and its timestamp in the presigned URL fragment (#t=&lt;sec&gt;). Implementation: app/search.py::_refine_and_dedupe.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What runs on every /api/search/*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66928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220000" tIns="180000" bIns="180000"/>
          <a:lstStyle/>
          <a:p>
            <a:pPr algn="l"/>
            <a:r>
              <a:rPr sz="1300">
                <a:solidFill>
                  <a:srgbClr val="94A3B8"/>
                </a:solidFill>
                <a:latin typeface="JetBrains Mono"/>
              </a:rPr>
              <a:t>-- 1. Pull a candidate pool, ordered by cosine ANN</a:t>
            </a:r>
          </a:p>
          <a:p>
            <a:pPr algn="l"/>
            <a:r>
              <a:rPr sz="1300">
                <a:solidFill>
                  <a:srgbClr val="7DD3FC"/>
                </a:solidFill>
                <a:latin typeface="JetBrains Mono"/>
              </a:rPr>
              <a:t>SELECT</a:t>
            </a:r>
          </a:p>
          <a:p>
            <a:pPr algn="l"/>
            <a:r>
              <a:rPr sz="1300">
                <a:solidFill>
                  <a:srgbClr val="E2E8F0"/>
                </a:solidFill>
                <a:latin typeface="JetBrains Mono"/>
              </a:rPr>
              <a:t>    s3_key, kind, segment_index, frame_index,</a:t>
            </a:r>
          </a:p>
          <a:p>
            <a:pPr algn="l"/>
            <a:r>
              <a:rPr sz="1300">
                <a:solidFill>
                  <a:srgbClr val="E2E8F0"/>
                </a:solidFill>
                <a:latin typeface="JetBrains Mono"/>
              </a:rPr>
              <a:t>    start_sec, end_sec, timestamp_sec, thumb_s3_key,</a:t>
            </a:r>
          </a:p>
          <a:p>
            <a:pPr algn="l"/>
            <a:r>
              <a:rPr sz="1300">
                <a:solidFill>
                  <a:srgbClr val="E2E8F0"/>
                </a:solidFill>
                <a:latin typeface="JetBrains Mono"/>
              </a:rPr>
              <a:t>    1 - (embedding &lt;=&gt; :q::vector) AS score</a:t>
            </a:r>
          </a:p>
          <a:p>
            <a:pPr algn="l"/>
            <a:r>
              <a:rPr sz="1300">
                <a:solidFill>
                  <a:srgbClr val="7DD3FC"/>
                </a:solidFill>
                <a:latin typeface="JetBrains Mono"/>
              </a:rPr>
              <a:t>FROM embeddings</a:t>
            </a:r>
          </a:p>
          <a:p>
            <a:pPr algn="l"/>
            <a:r>
              <a:rPr sz="1300">
                <a:solidFill>
                  <a:srgbClr val="7DD3FC"/>
                </a:solidFill>
                <a:latin typeface="JetBrains Mono"/>
              </a:rPr>
              <a:t>ORDER BY embedding &lt;=&gt; :q::vector</a:t>
            </a:r>
          </a:p>
          <a:p>
            <a:pPr algn="l"/>
            <a:r>
              <a:rPr sz="1300">
                <a:solidFill>
                  <a:srgbClr val="7DD3FC"/>
                </a:solidFill>
                <a:latin typeface="JetBrains Mono"/>
              </a:rPr>
              <a:t>LIMIT 80;   -- = max(80, top_k * 4)</a:t>
            </a:r>
          </a:p>
          <a:p>
            <a:pPr algn="l"/>
            <a:r>
              <a:rPr sz="1300">
                <a:solidFill>
                  <a:srgbClr val="E2E8F0"/>
                </a:solidFill>
                <a:latin typeface="JetBrains Mono"/>
              </a:rPr>
              <a:t> </a:t>
            </a:r>
          </a:p>
          <a:p>
            <a:pPr algn="l"/>
            <a:r>
              <a:rPr sz="1300">
                <a:solidFill>
                  <a:srgbClr val="94A3B8"/>
                </a:solidFill>
                <a:latin typeface="JetBrains Mono"/>
              </a:rPr>
              <a:t>-- HNSW index on embeddings(embedding vector_cosine_ops)</a:t>
            </a:r>
          </a:p>
          <a:p>
            <a:pPr algn="l"/>
            <a:r>
              <a:rPr sz="1300">
                <a:solidFill>
                  <a:srgbClr val="94A3B8"/>
                </a:solidFill>
                <a:latin typeface="JetBrains Mono"/>
              </a:rPr>
              <a:t>-- WITH (m = 16, ef_construction = 64)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691640"/>
            <a:ext cx="5486400" cy="42976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20000" tIns="220000" b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Inter"/>
              </a:rPr>
              <a:t>1.  Embed the query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4B5563"/>
                </a:solidFill>
                <a:latin typeface="Inter"/>
              </a:rPr>
              <a:t>Marengo via the us.* inference profile — text, image, or text+image — returns a 512-d vector.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Inter"/>
              </a:rPr>
              <a:t>2.  Pull candidate pool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4B5563"/>
                </a:solidFill>
                <a:latin typeface="Inter"/>
              </a:rPr>
              <a:t>Postgres + pgvector, ORDER BY embedding &lt;=&gt; :q, LIMIT max(80, top_k * 4).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Inter"/>
              </a:rPr>
              <a:t>3.  Frame-snap each clip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4B5563"/>
                </a:solidFill>
                <a:latin typeface="Inter"/>
              </a:rPr>
              <a:t>For every kind='clip' hit, replace timestamp_sec / thumb_s3_key with the best frame inside [start_sec, end_sec].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Inter"/>
              </a:rPr>
              <a:t>4.  Dedupe within 3s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4B5563"/>
                </a:solidFill>
                <a:latin typeface="Inter"/>
              </a:rPr>
              <a:t>Walking score-DESC, drop hits within 3s of an earlier survivor in the same s3_key.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Inter"/>
              </a:rPr>
              <a:t>5.  Enrich with presigned URLs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4B5563"/>
                </a:solidFill>
                <a:latin typeface="Inter"/>
              </a:rPr>
              <a:t>Video URL gets #t=&lt;timestamp_sec&gt;; thumb_s3_key gets its own presigned 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JetBrains Mono"/>
              </a:rPr>
              <a:t>Whole flow lives in app/search.py::search — same pre/post-processing as the local-only scripts/embed/serve.py.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UX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What the operator actually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438912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Inter"/>
              </a:rPr>
              <a:t>WITHOUT frame-snap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thumb_s3_key = the clip start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presigned URL has #t = 12.00 — start of the 6s clip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operator presses play, then has to scrub forward 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result list often shows the same establishing 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828800" cy="1051560"/>
          </a:xfrm>
          <a:prstGeom prst="roundRect">
            <a:avLst>
              <a:gd name="adj" fmla="val 4000"/>
            </a:avLst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Inter"/>
              </a:rPr>
              <a:t>[ thumbnail = clip start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8920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Inter"/>
              </a:rPr>
              <a:t>presigned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JetBrains Mono"/>
              </a:rPr>
              <a:t>…/raw-videos/foo.mp4#t=12.00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486400" cy="4389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Inter"/>
              </a:rPr>
              <a:t>WITH frame-snap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thumb_s3_key = the matching frame at t = 15.3s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presigned URL has #t = 15.30 — the actual moment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video opens already cued to the matched second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•  dedupe inside 3s collapses near-duplicate frames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709160"/>
            <a:ext cx="1828800" cy="1051560"/>
          </a:xfrm>
          <a:prstGeom prst="roundRect">
            <a:avLst>
              <a:gd name="adj" fmla="val 4000"/>
            </a:avLst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70916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Inter"/>
              </a:rPr>
              <a:t>[ thumbnail = matched frame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920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Inter"/>
              </a:rPr>
              <a:t>presigned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JetBrains Mono"/>
              </a:rPr>
              <a:t>…/raw-videos/foo.mp4#t=15.30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Numbers and knobs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Knob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54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83664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Embed model · Marengo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twelvelabs.marengo-embed-3-0-v1:0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6596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us.* inference profile · 512-d L2-norm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Text model · Pegasus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5856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twelvelabs.pegasus-1-2-v1:0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5856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invoke_model_with_response_stream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YOLO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55117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pldm-power-line · airpelago-insulator-pole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5117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weights at s3://.../models/yolo/&lt;name&gt;/v1/best.pt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4378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ANN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84378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HNSW · m=16 · ef_construction=64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84378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pgvector on db.t4g.large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54096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3639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Clip 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13639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~6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3639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Marengo's native segmentation, async invoke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2900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Frame sampling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4290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1 fps · 720px JPEG · q=4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42900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ffmpeg inside the frame worker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639312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2160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Frame worker (Fargate)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72160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1024 CPU · 2048 MiB · 30 GiB ephemeral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72160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8 parallel Bedrock InvokeModel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01421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Pegasus worker (Fargate)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01421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1024 CPU · 2048 MiB · 30 GiB ephemeral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01421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one task per video · prompt preset 'inspector'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224528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30682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YOLO worker (Fargate)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30682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2048 CPU · 4096 MiB · 30 GiB ephemeral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30682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CPU-only torch · imgsz=640 · conf=0.10 · iou=0.5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59943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Lambdas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5994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start_clip · finalize_clip · start_frame · start_yolo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59943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256 / 512 / 256 / 256 MiB · pg8000 (pure-Python)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09744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89204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Candidate pool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89204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JetBrains Mono"/>
              </a:rPr>
              <a:t>max(80, top_k × 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89204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covers both clip + frame so frame-snap has 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18464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Top-K returned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18464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1 – 50 (default 10)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18464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after snap + dedupe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394960"/>
            <a:ext cx="11338560" cy="29260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47725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Dedupe window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7725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3.0 seconds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547725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per s3_key, walking score-DESC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76986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Presigned URL TTL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76986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3600 seconds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76986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matches existing portal upload 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Inter"/>
              </a:rPr>
              <a:t>Constants live at the top of app/search.py. Defaults are tuned for ~10 videos × hundreds of frames; revisit pool size for &gt;10k clips.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What ships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D.1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1848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Inter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RDS schema (videos + embeddings) + migrations baked into the portal image. /api/db/health surfaces pgvector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D.2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957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Inter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5176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/api/search/{text,image,text-image} on ECS; Bedrock InvokeModel wired into the task role. Search tab on the portal HUD.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D.3+4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729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Inter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290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Marengo embed pipelines: start_clip_embed + finalize_clip_embed Lambdas (VPC, pg8000) for clips; start_frame_task → frame-embed-worker (Fargate, ffmpeg + 8× parallel Bedrock) for frames.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D.5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5020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Inter"/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0624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Pegasus per-clip text: finalize_clip_embed now spawns clip-pegasus-worker (Fargate, ffmpeg cuts → invoke_model_with_response_stream). Descriptions land in clip_descriptions and render inline in the result list.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D.6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2744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GATED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8348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YOLO instance segmentation: start_yolo_task → yolo-detect-worker (Fargate, ultralytics CPU torch). Code shipped end-to-end; flips on once the trained best.pt files land at s3://.../models/yolo/.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50468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Embed concatenated detection labels so 'thermal anomaly near a transformer' works without an example image. Worker DLQs + EB metric alarms; second YOLO model fleet (vegetation / corrosion) when checkpoints land.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Inter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Inter"/>
              </a:rPr>
              <a:t>Clips win recall.
Frames win the seek bar.
We store both and let the search join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Inter"/>
              </a:rPr>
              <a:t>Demo: search by text, image, or both — and watch the thumbnail land on the actual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Inter"/>
              </a:rPr>
              <a:t>Energy Infrastructure Health · Multimodal Video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